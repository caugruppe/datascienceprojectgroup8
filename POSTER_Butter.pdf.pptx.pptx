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1374100" cy="30276800"/>
  <p:notesSz cx="6858000" cy="9144000"/>
  <p:embeddedFontLst>
    <p:embeddedFont>
      <p:font typeface="Lato" charset="1" panose="020F0502020204030203"/>
      <p:regular r:id="rId7"/>
    </p:embeddedFont>
    <p:embeddedFont>
      <p:font typeface="Lato Bold" charset="1" panose="020F0502020204030203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3895"/>
            <a:ext cx="21512650" cy="2074505"/>
            <a:chOff x="0" y="0"/>
            <a:chExt cx="2969413" cy="2863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69413" cy="286346"/>
            </a:xfrm>
            <a:custGeom>
              <a:avLst/>
              <a:gdLst/>
              <a:ahLst/>
              <a:cxnLst/>
              <a:rect r="r" b="b" t="t" l="l"/>
              <a:pathLst>
                <a:path h="286346" w="2969413">
                  <a:moveTo>
                    <a:pt x="0" y="0"/>
                  </a:moveTo>
                  <a:lnTo>
                    <a:pt x="2969413" y="0"/>
                  </a:lnTo>
                  <a:lnTo>
                    <a:pt x="2969413" y="286346"/>
                  </a:lnTo>
                  <a:lnTo>
                    <a:pt x="0" y="286346"/>
                  </a:lnTo>
                  <a:close/>
                </a:path>
              </a:pathLst>
            </a:custGeom>
            <a:solidFill>
              <a:srgbClr val="9B0A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969413" cy="372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5438" y="11681511"/>
            <a:ext cx="2332597" cy="2566648"/>
            <a:chOff x="0" y="0"/>
            <a:chExt cx="3110129" cy="34221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10129" cy="3422198"/>
            </a:xfrm>
            <a:custGeom>
              <a:avLst/>
              <a:gdLst/>
              <a:ahLst/>
              <a:cxnLst/>
              <a:rect r="r" b="b" t="t" l="l"/>
              <a:pathLst>
                <a:path h="3422198" w="3110129">
                  <a:moveTo>
                    <a:pt x="0" y="0"/>
                  </a:moveTo>
                  <a:lnTo>
                    <a:pt x="3110129" y="0"/>
                  </a:lnTo>
                  <a:lnTo>
                    <a:pt x="3110129" y="3422198"/>
                  </a:lnTo>
                  <a:lnTo>
                    <a:pt x="0" y="3422198"/>
                  </a:lnTo>
                  <a:close/>
                </a:path>
              </a:pathLst>
            </a:custGeom>
          </p:spPr>
        </p:sp>
        <p:sp>
          <p:nvSpPr>
            <p:cNvPr name="TextBox 7" id="7"/>
            <p:cNvSpPr txBox="true"/>
            <p:nvPr/>
          </p:nvSpPr>
          <p:spPr>
            <a:xfrm>
              <a:off x="0" y="-381000"/>
              <a:ext cx="3110129" cy="380319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00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79581" y="12576051"/>
            <a:ext cx="9693294" cy="7142571"/>
            <a:chOff x="0" y="0"/>
            <a:chExt cx="1337975" cy="985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7975" cy="985896"/>
            </a:xfrm>
            <a:custGeom>
              <a:avLst/>
              <a:gdLst/>
              <a:ahLst/>
              <a:cxnLst/>
              <a:rect r="r" b="b" t="t" l="l"/>
              <a:pathLst>
                <a:path h="985896" w="1337975">
                  <a:moveTo>
                    <a:pt x="0" y="0"/>
                  </a:moveTo>
                  <a:lnTo>
                    <a:pt x="1337975" y="0"/>
                  </a:lnTo>
                  <a:lnTo>
                    <a:pt x="1337975" y="985896"/>
                  </a:lnTo>
                  <a:lnTo>
                    <a:pt x="0" y="985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337975" cy="1071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8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2472" y="2262742"/>
            <a:ext cx="20706886" cy="2226654"/>
            <a:chOff x="0" y="0"/>
            <a:chExt cx="2858193" cy="3073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58193" cy="307347"/>
            </a:xfrm>
            <a:custGeom>
              <a:avLst/>
              <a:gdLst/>
              <a:ahLst/>
              <a:cxnLst/>
              <a:rect r="r" b="b" t="t" l="l"/>
              <a:pathLst>
                <a:path h="307347" w="2858193">
                  <a:moveTo>
                    <a:pt x="0" y="0"/>
                  </a:moveTo>
                  <a:lnTo>
                    <a:pt x="2858193" y="0"/>
                  </a:lnTo>
                  <a:lnTo>
                    <a:pt x="2858193" y="307347"/>
                  </a:lnTo>
                  <a:lnTo>
                    <a:pt x="0" y="307347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9B0A7D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858193" cy="393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8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28650" y="28032491"/>
            <a:ext cx="21512650" cy="2254456"/>
            <a:chOff x="0" y="0"/>
            <a:chExt cx="2969413" cy="3111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69413" cy="311185"/>
            </a:xfrm>
            <a:custGeom>
              <a:avLst/>
              <a:gdLst/>
              <a:ahLst/>
              <a:cxnLst/>
              <a:rect r="r" b="b" t="t" l="l"/>
              <a:pathLst>
                <a:path h="311185" w="2969413">
                  <a:moveTo>
                    <a:pt x="0" y="0"/>
                  </a:moveTo>
                  <a:lnTo>
                    <a:pt x="2969413" y="0"/>
                  </a:lnTo>
                  <a:lnTo>
                    <a:pt x="2969413" y="311185"/>
                  </a:lnTo>
                  <a:lnTo>
                    <a:pt x="0" y="311185"/>
                  </a:lnTo>
                  <a:close/>
                </a:path>
              </a:pathLst>
            </a:custGeom>
            <a:solidFill>
              <a:srgbClr val="9B0A7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2969413" cy="396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8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8440418" y="27456574"/>
            <a:ext cx="2406311" cy="2130470"/>
            <a:chOff x="0" y="0"/>
            <a:chExt cx="304877" cy="2699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77" cy="269929"/>
            </a:xfrm>
            <a:custGeom>
              <a:avLst/>
              <a:gdLst/>
              <a:ahLst/>
              <a:cxnLst/>
              <a:rect r="r" b="b" t="t" l="l"/>
              <a:pathLst>
                <a:path h="269929" w="304877">
                  <a:moveTo>
                    <a:pt x="0" y="0"/>
                  </a:moveTo>
                  <a:lnTo>
                    <a:pt x="304877" y="0"/>
                  </a:lnTo>
                  <a:lnTo>
                    <a:pt x="304877" y="269929"/>
                  </a:lnTo>
                  <a:lnTo>
                    <a:pt x="0" y="269929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9B0A7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304877" cy="355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8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495563" y="11681507"/>
            <a:ext cx="2332597" cy="2566648"/>
            <a:chOff x="0" y="0"/>
            <a:chExt cx="3110129" cy="342219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10129" cy="3422198"/>
            </a:xfrm>
            <a:custGeom>
              <a:avLst/>
              <a:gdLst/>
              <a:ahLst/>
              <a:cxnLst/>
              <a:rect r="r" b="b" t="t" l="l"/>
              <a:pathLst>
                <a:path h="3422198" w="3110129">
                  <a:moveTo>
                    <a:pt x="0" y="0"/>
                  </a:moveTo>
                  <a:lnTo>
                    <a:pt x="3110129" y="0"/>
                  </a:lnTo>
                  <a:lnTo>
                    <a:pt x="3110129" y="3422198"/>
                  </a:lnTo>
                  <a:lnTo>
                    <a:pt x="0" y="3422198"/>
                  </a:lnTo>
                  <a:close/>
                </a:path>
              </a:pathLst>
            </a:custGeom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0"/>
              <a:ext cx="3110129" cy="380319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100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09706" y="12576047"/>
            <a:ext cx="9694712" cy="7142571"/>
            <a:chOff x="0" y="0"/>
            <a:chExt cx="1338171" cy="9858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38171" cy="985896"/>
            </a:xfrm>
            <a:custGeom>
              <a:avLst/>
              <a:gdLst/>
              <a:ahLst/>
              <a:cxnLst/>
              <a:rect r="r" b="b" t="t" l="l"/>
              <a:pathLst>
                <a:path h="985896" w="1338171">
                  <a:moveTo>
                    <a:pt x="0" y="0"/>
                  </a:moveTo>
                  <a:lnTo>
                    <a:pt x="1338171" y="0"/>
                  </a:lnTo>
                  <a:lnTo>
                    <a:pt x="1338171" y="985896"/>
                  </a:lnTo>
                  <a:lnTo>
                    <a:pt x="0" y="9858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338171" cy="1071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87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5939504" y="308075"/>
            <a:ext cx="5001829" cy="1667276"/>
          </a:xfrm>
          <a:custGeom>
            <a:avLst/>
            <a:gdLst/>
            <a:ahLst/>
            <a:cxnLst/>
            <a:rect r="r" b="b" t="t" l="l"/>
            <a:pathLst>
              <a:path h="1667276" w="5001829">
                <a:moveTo>
                  <a:pt x="0" y="0"/>
                </a:moveTo>
                <a:lnTo>
                  <a:pt x="5001829" y="0"/>
                </a:lnTo>
                <a:lnTo>
                  <a:pt x="5001829" y="1667276"/>
                </a:lnTo>
                <a:lnTo>
                  <a:pt x="0" y="166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639073" y="6489008"/>
            <a:ext cx="8600861" cy="5309715"/>
          </a:xfrm>
          <a:custGeom>
            <a:avLst/>
            <a:gdLst/>
            <a:ahLst/>
            <a:cxnLst/>
            <a:rect r="r" b="b" t="t" l="l"/>
            <a:pathLst>
              <a:path h="5309715" w="8600861">
                <a:moveTo>
                  <a:pt x="0" y="0"/>
                </a:moveTo>
                <a:lnTo>
                  <a:pt x="8600862" y="0"/>
                </a:lnTo>
                <a:lnTo>
                  <a:pt x="8600862" y="5309715"/>
                </a:lnTo>
                <a:lnTo>
                  <a:pt x="0" y="53097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58273" y="7817728"/>
            <a:ext cx="9312268" cy="3980995"/>
          </a:xfrm>
          <a:custGeom>
            <a:avLst/>
            <a:gdLst/>
            <a:ahLst/>
            <a:cxnLst/>
            <a:rect r="r" b="b" t="t" l="l"/>
            <a:pathLst>
              <a:path h="3980995" w="9312268">
                <a:moveTo>
                  <a:pt x="0" y="0"/>
                </a:moveTo>
                <a:lnTo>
                  <a:pt x="9312268" y="0"/>
                </a:lnTo>
                <a:lnTo>
                  <a:pt x="9312268" y="3980995"/>
                </a:lnTo>
                <a:lnTo>
                  <a:pt x="0" y="3980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445495" y="22960589"/>
            <a:ext cx="9430597" cy="3943421"/>
          </a:xfrm>
          <a:custGeom>
            <a:avLst/>
            <a:gdLst/>
            <a:ahLst/>
            <a:cxnLst/>
            <a:rect r="r" b="b" t="t" l="l"/>
            <a:pathLst>
              <a:path h="3943421" w="9430597">
                <a:moveTo>
                  <a:pt x="0" y="0"/>
                </a:moveTo>
                <a:lnTo>
                  <a:pt x="9430597" y="0"/>
                </a:lnTo>
                <a:lnTo>
                  <a:pt x="9430597" y="3943420"/>
                </a:lnTo>
                <a:lnTo>
                  <a:pt x="0" y="39434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96" t="-7902" r="-696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72066" y="22880932"/>
            <a:ext cx="9484682" cy="4102125"/>
          </a:xfrm>
          <a:custGeom>
            <a:avLst/>
            <a:gdLst/>
            <a:ahLst/>
            <a:cxnLst/>
            <a:rect r="r" b="b" t="t" l="l"/>
            <a:pathLst>
              <a:path h="4102125" w="9484682">
                <a:moveTo>
                  <a:pt x="0" y="0"/>
                </a:moveTo>
                <a:lnTo>
                  <a:pt x="9484682" y="0"/>
                </a:lnTo>
                <a:lnTo>
                  <a:pt x="9484682" y="4102125"/>
                </a:lnTo>
                <a:lnTo>
                  <a:pt x="0" y="41021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14640" y="13212840"/>
            <a:ext cx="8178514" cy="6490930"/>
          </a:xfrm>
          <a:custGeom>
            <a:avLst/>
            <a:gdLst/>
            <a:ahLst/>
            <a:cxnLst/>
            <a:rect r="r" b="b" t="t" l="l"/>
            <a:pathLst>
              <a:path h="6490930" w="8178514">
                <a:moveTo>
                  <a:pt x="0" y="0"/>
                </a:moveTo>
                <a:lnTo>
                  <a:pt x="8178514" y="0"/>
                </a:lnTo>
                <a:lnTo>
                  <a:pt x="8178514" y="6490930"/>
                </a:lnTo>
                <a:lnTo>
                  <a:pt x="0" y="64909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119" r="0" b="-34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140161" y="15042380"/>
            <a:ext cx="10864258" cy="3925669"/>
          </a:xfrm>
          <a:custGeom>
            <a:avLst/>
            <a:gdLst/>
            <a:ahLst/>
            <a:cxnLst/>
            <a:rect r="r" b="b" t="t" l="l"/>
            <a:pathLst>
              <a:path h="3925669" w="10864258">
                <a:moveTo>
                  <a:pt x="0" y="0"/>
                </a:moveTo>
                <a:lnTo>
                  <a:pt x="10864258" y="0"/>
                </a:lnTo>
                <a:lnTo>
                  <a:pt x="10864258" y="3925669"/>
                </a:lnTo>
                <a:lnTo>
                  <a:pt x="0" y="39256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2643" r="0" b="-359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76683" y="21399495"/>
            <a:ext cx="8840961" cy="167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31"/>
              </a:lnSpc>
              <a:spcBef>
                <a:spcPct val="0"/>
              </a:spcBef>
            </a:pPr>
            <a:r>
              <a:rPr lang="en-US" sz="277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hexbin plot shows the density of points for two continuous variables by dividing the plot into hexagonal bins colored according to how many points fall in each bin.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506808" y="6002779"/>
            <a:ext cx="9028707" cy="43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2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Details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23069" y="21165330"/>
            <a:ext cx="9028707" cy="43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2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Details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92370" y="2456005"/>
            <a:ext cx="20113144" cy="123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6"/>
              </a:lnSpc>
            </a:pPr>
            <a:r>
              <a:rPr lang="en-US" sz="4126" b="true">
                <a:solidFill>
                  <a:srgbClr val="9B0A7D"/>
                </a:solidFill>
                <a:latin typeface="Lato Bold"/>
                <a:ea typeface="Lato Bold"/>
                <a:cs typeface="Lato Bold"/>
                <a:sym typeface="Lato Bold"/>
              </a:rPr>
              <a:t>Introduction</a:t>
            </a:r>
          </a:p>
          <a:p>
            <a:pPr algn="just">
              <a:lnSpc>
                <a:spcPts val="4043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576683" y="4989558"/>
            <a:ext cx="9843716" cy="1398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2"/>
              </a:lnSpc>
            </a:pPr>
            <a:r>
              <a:rPr lang="en-US" sz="4022" b="true">
                <a:solidFill>
                  <a:srgbClr val="9B0A7D"/>
                </a:solidFill>
                <a:latin typeface="Lato Bold"/>
                <a:ea typeface="Lato Bold"/>
                <a:cs typeface="Lato Bold"/>
                <a:sym typeface="Lato Bold"/>
              </a:rPr>
              <a:t>Average monthly tone by Outlets regarding Israel and Palestine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95843" y="28134493"/>
            <a:ext cx="6508869" cy="68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Bibliography and References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95843" y="28899600"/>
            <a:ext cx="6815463" cy="361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0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should come here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8681633" y="27750321"/>
            <a:ext cx="1923882" cy="1542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Web page QR Code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59195" y="12603240"/>
            <a:ext cx="9181697" cy="1305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2"/>
              </a:lnSpc>
            </a:pPr>
            <a:r>
              <a:rPr lang="en-US" sz="3722" b="true">
                <a:solidFill>
                  <a:srgbClr val="9B0A7D"/>
                </a:solidFill>
                <a:latin typeface="Lato Bold"/>
                <a:ea typeface="Lato Bold"/>
                <a:cs typeface="Lato Bold"/>
                <a:sym typeface="Lato Bold"/>
              </a:rPr>
              <a:t>Comparison of top 4 most mentioned Actors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75457" y="20082307"/>
            <a:ext cx="9181697" cy="1137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3222" b="true">
                <a:solidFill>
                  <a:srgbClr val="9B0A7D"/>
                </a:solidFill>
                <a:latin typeface="Lato Bold"/>
                <a:ea typeface="Lato Bold"/>
                <a:cs typeface="Lato Bold"/>
                <a:sym typeface="Lato Bold"/>
              </a:rPr>
              <a:t>Comparison of China-related coverage between Foxnews and Tagesschau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506808" y="4989554"/>
            <a:ext cx="9843716" cy="690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2"/>
              </a:lnSpc>
            </a:pPr>
            <a:r>
              <a:rPr lang="en-US" sz="4022" b="true">
                <a:solidFill>
                  <a:srgbClr val="9B0A7D"/>
                </a:solidFill>
                <a:latin typeface="Lato Bold"/>
                <a:ea typeface="Lato Bold"/>
                <a:cs typeface="Lato Bold"/>
                <a:sym typeface="Lato Bold"/>
              </a:rPr>
              <a:t>Average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506808" y="13621323"/>
            <a:ext cx="9028707" cy="43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2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Details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89320" y="12603235"/>
            <a:ext cx="9181697" cy="210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2"/>
              </a:lnSpc>
            </a:pPr>
            <a:r>
              <a:rPr lang="en-US" sz="4022" b="true">
                <a:solidFill>
                  <a:srgbClr val="9B0A7D"/>
                </a:solidFill>
                <a:latin typeface="Lato Bold"/>
                <a:ea typeface="Lato Bold"/>
                <a:cs typeface="Lato Bold"/>
                <a:sym typeface="Lato Bold"/>
              </a:rPr>
              <a:t>Tone of german media coverage of Government: Election Periods vs. Non-election Periods (Tagesschau vs. ZDF)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505582" y="20147243"/>
            <a:ext cx="9181697" cy="1398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2"/>
              </a:lnSpc>
            </a:pPr>
            <a:r>
              <a:rPr lang="en-US" sz="4022" b="true">
                <a:solidFill>
                  <a:srgbClr val="9B0A7D"/>
                </a:solidFill>
                <a:latin typeface="Lato Bold"/>
                <a:ea typeface="Lato Bold"/>
                <a:cs typeface="Lato Bold"/>
                <a:sym typeface="Lato Bold"/>
              </a:rPr>
              <a:t>Distribution of positive country-related articles (excluding Germany)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76683" y="3303101"/>
            <a:ext cx="9028707" cy="43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2"/>
              </a:lnSpc>
              <a:spcBef>
                <a:spcPct val="0"/>
              </a:spcBef>
            </a:pPr>
            <a:r>
              <a:rPr lang="en-US" sz="283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Details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92370" y="193775"/>
            <a:ext cx="14065978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Project Title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92370" y="1310294"/>
            <a:ext cx="6815463" cy="55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Members (Name - Last Name)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DAGzsnqP_cE</dc:identifier>
  <dcterms:modified xsi:type="dcterms:W3CDTF">2011-08-01T06:04:30Z</dcterms:modified>
  <cp:revision>1</cp:revision>
  <dc:title>POSTER_Butter.pdf.pptx</dc:title>
</cp:coreProperties>
</file>